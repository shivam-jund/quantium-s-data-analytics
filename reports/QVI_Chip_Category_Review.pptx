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79" r:id="rId12"/>
    <p:sldId id="4780" r:id="rId11"/>
    <p:sldId id="4781" r:id="rId10"/>
    <p:sldId id="4782" r:id="rId9"/>
    <p:sldId id="4783" r:id="rId8"/>
    <p:sldId id="4784" r:id="rId7"/>
    <p:sldId id="4785" r:id="rId6"/>
    <p:sldId id="4786" r:id="rId5"/>
    <p:sldId id="4787" r:id="rId4"/>
    <p:sldId id="4788" r:id="rId30"/>
    <p:sldId id="4789" r:id="rId31"/>
    <p:sldId id="4790" r:id="rId32"/>
    <p:sldId id="4791" r:id="rId33"/>
    <p:sldId id="4792" r:id="rId34"/>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Roboto" panose="02000000000000000000" pitchFamily="2" charset="0"/>
      <p:regular r:id="rId18"/>
      <p:bold r:id="rId19"/>
      <p:italic r:id="rId20"/>
      <p:boldItalic r:id="rId21"/>
    </p:embeddedFont>
    <p:embeddedFont>
      <p:font typeface="Roboto Light" panose="02000000000000000000" pitchFamily="2" charset="0"/>
      <p:regular r:id="rId22"/>
      <p:italic r:id="rId23"/>
    </p:embeddedFont>
    <p:embeddedFont>
      <p:font typeface="Roboto Medium" panose="02000000000000000000" pitchFamily="2"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1" d="100"/>
          <a:sy n="71" d="100"/>
        </p:scale>
        <p:origin x="1354" y="5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11.xml"/><Relationship Id="rId5" Type="http://schemas.openxmlformats.org/officeDocument/2006/relationships/slide" Target="slides/slide10.xml"/><Relationship Id="rId6" Type="http://schemas.openxmlformats.org/officeDocument/2006/relationships/slide" Target="slides/slide9.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11/06/2020</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www.youtube.com/watch?v=Zq1QDAkoRzU" TargetMode="External"/><Relationship Id="rId4" Type="http://schemas.openxmlformats.org/officeDocument/2006/relationships/hyperlink" Target="file:///\\quantium.com.au.local\quantiumgroup\Company%20Reference\Brand%20&amp;%20Design\Brand%20videos\Q%20Privacy.mp4"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  |  Strategic recommendation for the FY20 chip category plan</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t>August 2019</a:t>
            </a:r>
          </a:p>
        </p:txBody>
      </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00005"/>
                </a:solidFill>
                <a:latin typeface="Roboto"/>
              </a:rPr>
              <a:t>Executive summary</a:t>
            </a:r>
          </a:p>
        </p:txBody>
      </p:sp>
      <p:sp>
        <p:nvSpPr>
          <p:cNvPr id="3" name="TextBox 2"/>
          <p:cNvSpPr txBox="1"/>
          <p:nvPr/>
        </p:nvSpPr>
        <p:spPr>
          <a:xfrm>
            <a:off x="1097280" y="1417320"/>
            <a:ext cx="10561320" cy="914400"/>
          </a:xfrm>
          <a:prstGeom prst="rect">
            <a:avLst/>
          </a:prstGeom>
          <a:noFill/>
        </p:spPr>
        <p:txBody>
          <a:bodyPr wrap="square" lIns="0" rIns="0" tIns="0" bIns="0">
            <a:spAutoFit/>
          </a:bodyPr>
          <a:lstStyle/>
          <a:p>
            <a:pPr algn="l">
              <a:lnSpc>
                <a:spcPct val="115000"/>
              </a:lnSpc>
            </a:pPr>
            <a:r>
              <a:rPr sz="1900" b="1" i="0">
                <a:solidFill>
                  <a:srgbClr val="000005"/>
                </a:solidFill>
                <a:latin typeface="Roboto Light"/>
              </a:rPr>
              <a:t>Target Mainstream Young Singles/Couples and roll out the new store layout — both are proven, data-backed growth levers for the FY20 chip plan.</a:t>
            </a:r>
          </a:p>
        </p:txBody>
      </p:sp>
      <p:sp>
        <p:nvSpPr>
          <p:cNvPr id="4" name="Rounded Rectangle 3"/>
          <p:cNvSpPr/>
          <p:nvPr/>
        </p:nvSpPr>
        <p:spPr>
          <a:xfrm>
            <a:off x="1097280" y="2560320"/>
            <a:ext cx="3337560" cy="3246120"/>
          </a:xfrm>
          <a:prstGeom prst="roundRect">
            <a:avLst>
              <a:gd name="adj" fmla="val 4500"/>
            </a:avLst>
          </a:prstGeom>
          <a:solidFill>
            <a:srgbClr val="ECE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71016" y="2734056"/>
            <a:ext cx="566928" cy="566928"/>
          </a:xfrm>
          <a:prstGeom prst="ellipse">
            <a:avLst/>
          </a:prstGeom>
          <a:solidFill>
            <a:srgbClr val="EF63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Roboto"/>
              </a:rPr>
              <a:t>1</a:t>
            </a:r>
          </a:p>
        </p:txBody>
      </p:sp>
      <p:sp>
        <p:nvSpPr>
          <p:cNvPr id="6" name="TextBox 5"/>
          <p:cNvSpPr txBox="1"/>
          <p:nvPr/>
        </p:nvSpPr>
        <p:spPr>
          <a:xfrm>
            <a:off x="1371600" y="3474720"/>
            <a:ext cx="2788920" cy="685800"/>
          </a:xfrm>
          <a:prstGeom prst="rect">
            <a:avLst/>
          </a:prstGeom>
          <a:noFill/>
        </p:spPr>
        <p:txBody>
          <a:bodyPr wrap="square" lIns="0" rIns="0" tIns="0" bIns="0">
            <a:spAutoFit/>
          </a:bodyPr>
          <a:lstStyle/>
          <a:p>
            <a:pPr algn="l">
              <a:lnSpc>
                <a:spcPct val="105000"/>
              </a:lnSpc>
            </a:pPr>
            <a:r>
              <a:rPr sz="1600" b="1" i="0">
                <a:solidFill>
                  <a:srgbClr val="000005"/>
                </a:solidFill>
                <a:latin typeface="Roboto Light"/>
              </a:rPr>
              <a:t>A large, high-value</a:t>
            </a:r>
          </a:p>
          <a:p>
            <a:pPr algn="l">
              <a:lnSpc>
                <a:spcPct val="105000"/>
              </a:lnSpc>
            </a:pPr>
            <a:r>
              <a:rPr sz="1600" b="1" i="0">
                <a:solidFill>
                  <a:srgbClr val="000005"/>
                </a:solidFill>
                <a:latin typeface="Roboto Light"/>
              </a:rPr>
              <a:t>segment</a:t>
            </a:r>
          </a:p>
        </p:txBody>
      </p:sp>
      <p:sp>
        <p:nvSpPr>
          <p:cNvPr id="7" name="TextBox 6"/>
          <p:cNvSpPr txBox="1"/>
          <p:nvPr/>
        </p:nvSpPr>
        <p:spPr>
          <a:xfrm>
            <a:off x="1371600" y="4160520"/>
            <a:ext cx="2788920" cy="1463040"/>
          </a:xfrm>
          <a:prstGeom prst="rect">
            <a:avLst/>
          </a:prstGeom>
          <a:noFill/>
        </p:spPr>
        <p:txBody>
          <a:bodyPr wrap="square" lIns="0" rIns="0" tIns="0" bIns="0">
            <a:spAutoFit/>
          </a:bodyPr>
          <a:lstStyle/>
          <a:p>
            <a:pPr algn="l">
              <a:lnSpc>
                <a:spcPct val="125000"/>
              </a:lnSpc>
            </a:pPr>
            <a:r>
              <a:rPr sz="1250" b="0" i="0">
                <a:solidFill>
                  <a:srgbClr val="4A4A4E"/>
                </a:solidFill>
                <a:latin typeface="Roboto Light"/>
              </a:rPr>
              <a:t>Mainstream Young Singles/Couples is our single biggest customer base (11% of all customers) and pays a statistically-proven 9.1% more per packet than Budget/Premium peers (p &lt; 0.0001).</a:t>
            </a:r>
          </a:p>
        </p:txBody>
      </p:sp>
      <p:sp>
        <p:nvSpPr>
          <p:cNvPr id="8" name="Rounded Rectangle 7"/>
          <p:cNvSpPr/>
          <p:nvPr/>
        </p:nvSpPr>
        <p:spPr>
          <a:xfrm>
            <a:off x="4709160" y="2560320"/>
            <a:ext cx="3337560" cy="3246120"/>
          </a:xfrm>
          <a:prstGeom prst="roundRect">
            <a:avLst>
              <a:gd name="adj" fmla="val 4500"/>
            </a:avLst>
          </a:prstGeom>
          <a:solidFill>
            <a:srgbClr val="ECE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882896" y="2734056"/>
            <a:ext cx="566928" cy="566928"/>
          </a:xfrm>
          <a:prstGeom prst="ellipse">
            <a:avLst/>
          </a:prstGeom>
          <a:solidFill>
            <a:srgbClr val="44D6A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Roboto"/>
              </a:rPr>
              <a:t>2</a:t>
            </a:r>
          </a:p>
        </p:txBody>
      </p:sp>
      <p:sp>
        <p:nvSpPr>
          <p:cNvPr id="10" name="TextBox 9"/>
          <p:cNvSpPr txBox="1"/>
          <p:nvPr/>
        </p:nvSpPr>
        <p:spPr>
          <a:xfrm>
            <a:off x="4983480" y="3474720"/>
            <a:ext cx="2788920" cy="685800"/>
          </a:xfrm>
          <a:prstGeom prst="rect">
            <a:avLst/>
          </a:prstGeom>
          <a:noFill/>
        </p:spPr>
        <p:txBody>
          <a:bodyPr wrap="square" lIns="0" rIns="0" tIns="0" bIns="0">
            <a:spAutoFit/>
          </a:bodyPr>
          <a:lstStyle/>
          <a:p>
            <a:pPr algn="l">
              <a:lnSpc>
                <a:spcPct val="105000"/>
              </a:lnSpc>
            </a:pPr>
            <a:r>
              <a:rPr sz="1600" b="1" i="0">
                <a:solidFill>
                  <a:srgbClr val="000005"/>
                </a:solidFill>
                <a:latin typeface="Roboto Light"/>
              </a:rPr>
              <a:t>The trial worked</a:t>
            </a:r>
          </a:p>
        </p:txBody>
      </p:sp>
      <p:sp>
        <p:nvSpPr>
          <p:cNvPr id="11" name="TextBox 10"/>
          <p:cNvSpPr txBox="1"/>
          <p:nvPr/>
        </p:nvSpPr>
        <p:spPr>
          <a:xfrm>
            <a:off x="4983480" y="4160520"/>
            <a:ext cx="2788920" cy="1463040"/>
          </a:xfrm>
          <a:prstGeom prst="rect">
            <a:avLst/>
          </a:prstGeom>
          <a:noFill/>
        </p:spPr>
        <p:txBody>
          <a:bodyPr wrap="square" lIns="0" rIns="0" tIns="0" bIns="0">
            <a:spAutoFit/>
          </a:bodyPr>
          <a:lstStyle/>
          <a:p>
            <a:pPr algn="l">
              <a:lnSpc>
                <a:spcPct val="125000"/>
              </a:lnSpc>
            </a:pPr>
            <a:r>
              <a:rPr sz="1250" b="0" i="0">
                <a:solidFill>
                  <a:srgbClr val="4A4A4E"/>
                </a:solidFill>
                <a:latin typeface="Roboto Light"/>
              </a:rPr>
              <a:t>2 of 3 trial stores (77 and 88) show a significant uplift in both sales and customer numbers during the trial period — a clean, repeatable result.</a:t>
            </a:r>
          </a:p>
        </p:txBody>
      </p:sp>
      <p:sp>
        <p:nvSpPr>
          <p:cNvPr id="12" name="Rounded Rectangle 11"/>
          <p:cNvSpPr/>
          <p:nvPr/>
        </p:nvSpPr>
        <p:spPr>
          <a:xfrm>
            <a:off x="8321040" y="2560320"/>
            <a:ext cx="3337560" cy="3246120"/>
          </a:xfrm>
          <a:prstGeom prst="roundRect">
            <a:avLst>
              <a:gd name="adj" fmla="val 4500"/>
            </a:avLst>
          </a:prstGeom>
          <a:solidFill>
            <a:srgbClr val="ECE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94776" y="2734056"/>
            <a:ext cx="566928" cy="566928"/>
          </a:xfrm>
          <a:prstGeom prst="ellipse">
            <a:avLst/>
          </a:prstGeom>
          <a:solidFill>
            <a:srgbClr val="8E72B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Roboto"/>
              </a:rPr>
              <a:t>3</a:t>
            </a:r>
          </a:p>
        </p:txBody>
      </p:sp>
      <p:sp>
        <p:nvSpPr>
          <p:cNvPr id="14" name="TextBox 13"/>
          <p:cNvSpPr txBox="1"/>
          <p:nvPr/>
        </p:nvSpPr>
        <p:spPr>
          <a:xfrm>
            <a:off x="8595360" y="3474720"/>
            <a:ext cx="2788920" cy="685800"/>
          </a:xfrm>
          <a:prstGeom prst="rect">
            <a:avLst/>
          </a:prstGeom>
          <a:noFill/>
        </p:spPr>
        <p:txBody>
          <a:bodyPr wrap="square" lIns="0" rIns="0" tIns="0" bIns="0">
            <a:spAutoFit/>
          </a:bodyPr>
          <a:lstStyle/>
          <a:p>
            <a:pPr algn="l">
              <a:lnSpc>
                <a:spcPct val="105000"/>
              </a:lnSpc>
            </a:pPr>
            <a:r>
              <a:rPr sz="1600" b="1" i="0">
                <a:solidFill>
                  <a:srgbClr val="000005"/>
                </a:solidFill>
                <a:latin typeface="Roboto Light"/>
              </a:rPr>
              <a:t>Clear next steps</a:t>
            </a:r>
          </a:p>
        </p:txBody>
      </p:sp>
      <p:sp>
        <p:nvSpPr>
          <p:cNvPr id="15" name="TextBox 14"/>
          <p:cNvSpPr txBox="1"/>
          <p:nvPr/>
        </p:nvSpPr>
        <p:spPr>
          <a:xfrm>
            <a:off x="8595360" y="4160520"/>
            <a:ext cx="2788920" cy="1463040"/>
          </a:xfrm>
          <a:prstGeom prst="rect">
            <a:avLst/>
          </a:prstGeom>
          <a:noFill/>
        </p:spPr>
        <p:txBody>
          <a:bodyPr wrap="square" lIns="0" rIns="0" tIns="0" bIns="0">
            <a:spAutoFit/>
          </a:bodyPr>
          <a:lstStyle/>
          <a:p>
            <a:pPr algn="l">
              <a:lnSpc>
                <a:spcPct val="125000"/>
              </a:lnSpc>
            </a:pPr>
            <a:r>
              <a:rPr sz="1250" b="0" i="0">
                <a:solidFill>
                  <a:srgbClr val="4A4A4E"/>
                </a:solidFill>
                <a:latin typeface="Roboto Light"/>
              </a:rPr>
              <a:t>Prioritise Tyrrells, Doritos, Kettle and Twisties in range and promotion for this segment, roll out the layout more broadly, and clarify store 86's pricing/promo activity before generalising.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00005"/>
                </a:solidFill>
                <a:latin typeface="Roboto"/>
              </a:rPr>
              <a:t>Agenda</a:t>
            </a:r>
          </a:p>
        </p:txBody>
      </p:sp>
      <p:sp>
        <p:nvSpPr>
          <p:cNvPr id="3" name="Oval 2"/>
          <p:cNvSpPr/>
          <p:nvPr/>
        </p:nvSpPr>
        <p:spPr>
          <a:xfrm>
            <a:off x="1074420" y="2148840"/>
            <a:ext cx="685800" cy="685800"/>
          </a:xfrm>
          <a:prstGeom prst="ellipse">
            <a:avLst/>
          </a:prstGeom>
          <a:solidFill>
            <a:srgbClr val="EF63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Roboto"/>
              </a:rPr>
              <a:t>01</a:t>
            </a:r>
          </a:p>
        </p:txBody>
      </p:sp>
      <p:sp>
        <p:nvSpPr>
          <p:cNvPr id="4" name="TextBox 3"/>
          <p:cNvSpPr txBox="1"/>
          <p:nvPr/>
        </p:nvSpPr>
        <p:spPr>
          <a:xfrm>
            <a:off x="2103120" y="1984248"/>
            <a:ext cx="8686800" cy="457200"/>
          </a:xfrm>
          <a:prstGeom prst="rect">
            <a:avLst/>
          </a:prstGeom>
          <a:noFill/>
        </p:spPr>
        <p:txBody>
          <a:bodyPr wrap="square" lIns="0" rIns="0" tIns="0" bIns="0">
            <a:spAutoFit/>
          </a:bodyPr>
          <a:lstStyle/>
          <a:p>
            <a:pPr algn="l">
              <a:lnSpc>
                <a:spcPct val="115000"/>
              </a:lnSpc>
            </a:pPr>
            <a:r>
              <a:rPr sz="1900" b="1" i="0">
                <a:solidFill>
                  <a:srgbClr val="000005"/>
                </a:solidFill>
                <a:latin typeface="Roboto Light"/>
              </a:rPr>
              <a:t>Category insights</a:t>
            </a:r>
          </a:p>
        </p:txBody>
      </p:sp>
      <p:sp>
        <p:nvSpPr>
          <p:cNvPr id="5" name="TextBox 4"/>
          <p:cNvSpPr txBox="1"/>
          <p:nvPr/>
        </p:nvSpPr>
        <p:spPr>
          <a:xfrm>
            <a:off x="2103120" y="2441448"/>
            <a:ext cx="8869680" cy="548640"/>
          </a:xfrm>
          <a:prstGeom prst="rect">
            <a:avLst/>
          </a:prstGeom>
          <a:noFill/>
        </p:spPr>
        <p:txBody>
          <a:bodyPr wrap="square" lIns="0" rIns="0" tIns="0" bIns="0">
            <a:spAutoFit/>
          </a:bodyPr>
          <a:lstStyle/>
          <a:p>
            <a:pPr algn="l">
              <a:lnSpc>
                <a:spcPct val="115000"/>
              </a:lnSpc>
            </a:pPr>
            <a:r>
              <a:rPr sz="1300" b="0" i="0">
                <a:solidFill>
                  <a:srgbClr val="4A4A4E"/>
                </a:solidFill>
                <a:latin typeface="Roboto Light"/>
              </a:rPr>
              <a:t>Who buys chips, what drives sales, and where the growth opportunity is</a:t>
            </a:r>
          </a:p>
        </p:txBody>
      </p:sp>
      <p:cxnSp>
        <p:nvCxnSpPr>
          <p:cNvPr id="6" name="Connector 5"/>
          <p:cNvCxnSpPr/>
          <p:nvPr/>
        </p:nvCxnSpPr>
        <p:spPr>
          <a:xfrm>
            <a:off x="1097280" y="3218688"/>
            <a:ext cx="9875520" cy="0"/>
          </a:xfrm>
          <a:prstGeom prst="line">
            <a:avLst/>
          </a:prstGeom>
          <a:ln w="12700">
            <a:solidFill>
              <a:srgbClr val="ECE8E4"/>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074420" y="3611880"/>
            <a:ext cx="685800" cy="685800"/>
          </a:xfrm>
          <a:prstGeom prst="ellipse">
            <a:avLst/>
          </a:prstGeom>
          <a:solidFill>
            <a:srgbClr val="44D6A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Roboto"/>
              </a:rPr>
              <a:t>02</a:t>
            </a:r>
          </a:p>
        </p:txBody>
      </p:sp>
      <p:sp>
        <p:nvSpPr>
          <p:cNvPr id="8" name="TextBox 7"/>
          <p:cNvSpPr txBox="1"/>
          <p:nvPr/>
        </p:nvSpPr>
        <p:spPr>
          <a:xfrm>
            <a:off x="2103120" y="3447288"/>
            <a:ext cx="8686800" cy="457200"/>
          </a:xfrm>
          <a:prstGeom prst="rect">
            <a:avLst/>
          </a:prstGeom>
          <a:noFill/>
        </p:spPr>
        <p:txBody>
          <a:bodyPr wrap="square" lIns="0" rIns="0" tIns="0" bIns="0">
            <a:spAutoFit/>
          </a:bodyPr>
          <a:lstStyle/>
          <a:p>
            <a:pPr algn="l">
              <a:lnSpc>
                <a:spcPct val="115000"/>
              </a:lnSpc>
            </a:pPr>
            <a:r>
              <a:rPr sz="1900" b="1" i="0">
                <a:solidFill>
                  <a:srgbClr val="000005"/>
                </a:solidFill>
                <a:latin typeface="Roboto Light"/>
              </a:rPr>
              <a:t>Trial store performance</a:t>
            </a:r>
          </a:p>
        </p:txBody>
      </p:sp>
      <p:sp>
        <p:nvSpPr>
          <p:cNvPr id="9" name="TextBox 8"/>
          <p:cNvSpPr txBox="1"/>
          <p:nvPr/>
        </p:nvSpPr>
        <p:spPr>
          <a:xfrm>
            <a:off x="2103120" y="3904488"/>
            <a:ext cx="8869680" cy="548640"/>
          </a:xfrm>
          <a:prstGeom prst="rect">
            <a:avLst/>
          </a:prstGeom>
          <a:noFill/>
        </p:spPr>
        <p:txBody>
          <a:bodyPr wrap="square" lIns="0" rIns="0" tIns="0" bIns="0">
            <a:spAutoFit/>
          </a:bodyPr>
          <a:lstStyle/>
          <a:p>
            <a:pPr algn="l">
              <a:lnSpc>
                <a:spcPct val="115000"/>
              </a:lnSpc>
            </a:pPr>
            <a:r>
              <a:rPr sz="1300" b="0" i="0">
                <a:solidFill>
                  <a:srgbClr val="4A4A4E"/>
                </a:solidFill>
                <a:latin typeface="Roboto Light"/>
              </a:rPr>
              <a:t>Did the new layout work? Store-by-store results</a:t>
            </a:r>
          </a:p>
        </p:txBody>
      </p:sp>
      <p:cxnSp>
        <p:nvCxnSpPr>
          <p:cNvPr id="10" name="Connector 9"/>
          <p:cNvCxnSpPr/>
          <p:nvPr/>
        </p:nvCxnSpPr>
        <p:spPr>
          <a:xfrm>
            <a:off x="1097280" y="4681728"/>
            <a:ext cx="9875520" cy="0"/>
          </a:xfrm>
          <a:prstGeom prst="line">
            <a:avLst/>
          </a:prstGeom>
          <a:ln w="12700">
            <a:solidFill>
              <a:srgbClr val="ECE8E4"/>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74420" y="5074920"/>
            <a:ext cx="685800" cy="685800"/>
          </a:xfrm>
          <a:prstGeom prst="ellipse">
            <a:avLst/>
          </a:prstGeom>
          <a:solidFill>
            <a:srgbClr val="8E72B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Roboto"/>
              </a:rPr>
              <a:t>03</a:t>
            </a:r>
          </a:p>
        </p:txBody>
      </p:sp>
      <p:sp>
        <p:nvSpPr>
          <p:cNvPr id="12" name="TextBox 11"/>
          <p:cNvSpPr txBox="1"/>
          <p:nvPr/>
        </p:nvSpPr>
        <p:spPr>
          <a:xfrm>
            <a:off x="2103120" y="4910328"/>
            <a:ext cx="8686800" cy="457200"/>
          </a:xfrm>
          <a:prstGeom prst="rect">
            <a:avLst/>
          </a:prstGeom>
          <a:noFill/>
        </p:spPr>
        <p:txBody>
          <a:bodyPr wrap="square" lIns="0" rIns="0" tIns="0" bIns="0">
            <a:spAutoFit/>
          </a:bodyPr>
          <a:lstStyle/>
          <a:p>
            <a:pPr algn="l">
              <a:lnSpc>
                <a:spcPct val="115000"/>
              </a:lnSpc>
            </a:pPr>
            <a:r>
              <a:rPr sz="1900" b="1" i="0">
                <a:solidFill>
                  <a:srgbClr val="000005"/>
                </a:solidFill>
                <a:latin typeface="Roboto Light"/>
              </a:rPr>
              <a:t>Recommendations &amp; next steps</a:t>
            </a:r>
          </a:p>
        </p:txBody>
      </p:sp>
      <p:sp>
        <p:nvSpPr>
          <p:cNvPr id="13" name="TextBox 12"/>
          <p:cNvSpPr txBox="1"/>
          <p:nvPr/>
        </p:nvSpPr>
        <p:spPr>
          <a:xfrm>
            <a:off x="2103120" y="5367528"/>
            <a:ext cx="8869680" cy="548640"/>
          </a:xfrm>
          <a:prstGeom prst="rect">
            <a:avLst/>
          </a:prstGeom>
          <a:noFill/>
        </p:spPr>
        <p:txBody>
          <a:bodyPr wrap="square" lIns="0" rIns="0" tIns="0" bIns="0">
            <a:spAutoFit/>
          </a:bodyPr>
          <a:lstStyle/>
          <a:p>
            <a:pPr algn="l">
              <a:lnSpc>
                <a:spcPct val="115000"/>
              </a:lnSpc>
            </a:pPr>
            <a:r>
              <a:rPr sz="1300" b="0" i="0">
                <a:solidFill>
                  <a:srgbClr val="4A4A4E"/>
                </a:solidFill>
                <a:latin typeface="Roboto Light"/>
              </a:rPr>
              <a:t>What we suggest doing about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b="1">
                <a:solidFill>
                  <a:srgbClr val="000005"/>
                </a:solidFill>
                <a:latin typeface="Roboto"/>
              </a:rPr>
              <a:t>01</a:t>
            </a:r>
          </a:p>
        </p:txBody>
      </p:sp>
      <p:sp>
        <p:nvSpPr>
          <p:cNvPr id="3" name="Text Placeholder 2"/>
          <p:cNvSpPr>
            <a:spLocks noGrp="1"/>
          </p:cNvSpPr>
          <p:nvPr>
            <p:ph type="body" idx="1"/>
          </p:nvPr>
        </p:nvSpPr>
        <p:spPr/>
        <p:txBody>
          <a:bodyPr/>
          <a:lstStyle/>
          <a:p>
            <a:r>
              <a:rPr sz="3000">
                <a:solidFill>
                  <a:srgbClr val="000005"/>
                </a:solidFill>
                <a:latin typeface="Roboto Light"/>
              </a:rPr>
              <a:t>Category insights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00005"/>
                </a:solidFill>
                <a:latin typeface="Roboto"/>
              </a:rPr>
              <a:t>A stable, year-round category</a:t>
            </a:r>
          </a:p>
        </p:txBody>
      </p:sp>
      <p:pic>
        <p:nvPicPr>
          <p:cNvPr id="3" name="Picture 2" descr="cat_sales_trend.png"/>
          <p:cNvPicPr>
            <a:picLocks noChangeAspect="1"/>
          </p:cNvPicPr>
          <p:nvPr/>
        </p:nvPicPr>
        <p:blipFill>
          <a:blip r:embed="rId2"/>
          <a:stretch>
            <a:fillRect/>
          </a:stretch>
        </p:blipFill>
        <p:spPr>
          <a:xfrm>
            <a:off x="1097280" y="2269500"/>
            <a:ext cx="7863840" cy="2867640"/>
          </a:xfrm>
          <a:prstGeom prst="rect">
            <a:avLst/>
          </a:prstGeom>
        </p:spPr>
      </p:pic>
      <p:sp>
        <p:nvSpPr>
          <p:cNvPr id="4" name="TextBox 3"/>
          <p:cNvSpPr txBox="1"/>
          <p:nvPr/>
        </p:nvSpPr>
        <p:spPr>
          <a:xfrm>
            <a:off x="9281160" y="1828800"/>
            <a:ext cx="2377440" cy="1005840"/>
          </a:xfrm>
          <a:prstGeom prst="rect">
            <a:avLst/>
          </a:prstGeom>
          <a:noFill/>
        </p:spPr>
        <p:txBody>
          <a:bodyPr wrap="square" lIns="0" rIns="0" tIns="0" bIns="0">
            <a:spAutoFit/>
          </a:bodyPr>
          <a:lstStyle/>
          <a:p>
            <a:pPr algn="l">
              <a:lnSpc>
                <a:spcPct val="115000"/>
              </a:lnSpc>
            </a:pPr>
            <a:r>
              <a:rPr sz="4400" b="1" i="0">
                <a:solidFill>
                  <a:srgbClr val="EF6347"/>
                </a:solidFill>
                <a:latin typeface="Roboto Light"/>
              </a:rPr>
              <a:t>$1.82M</a:t>
            </a:r>
          </a:p>
        </p:txBody>
      </p:sp>
      <p:sp>
        <p:nvSpPr>
          <p:cNvPr id="5" name="TextBox 4"/>
          <p:cNvSpPr txBox="1"/>
          <p:nvPr/>
        </p:nvSpPr>
        <p:spPr>
          <a:xfrm>
            <a:off x="9281160" y="2788920"/>
            <a:ext cx="2377440" cy="640080"/>
          </a:xfrm>
          <a:prstGeom prst="rect">
            <a:avLst/>
          </a:prstGeom>
          <a:noFill/>
        </p:spPr>
        <p:txBody>
          <a:bodyPr wrap="square" lIns="0" rIns="0" tIns="0" bIns="0">
            <a:spAutoFit/>
          </a:bodyPr>
          <a:lstStyle/>
          <a:p>
            <a:pPr algn="l">
              <a:lnSpc>
                <a:spcPct val="120000"/>
              </a:lnSpc>
            </a:pPr>
            <a:r>
              <a:rPr sz="1350" b="0" i="0">
                <a:solidFill>
                  <a:srgbClr val="4A4A4E"/>
                </a:solidFill>
                <a:latin typeface="Roboto Light"/>
              </a:rPr>
              <a:t>Total chip sales, Jul 2018 – Jun 2019</a:t>
            </a:r>
          </a:p>
        </p:txBody>
      </p:sp>
      <p:sp>
        <p:nvSpPr>
          <p:cNvPr id="6" name="TextBox 5"/>
          <p:cNvSpPr txBox="1"/>
          <p:nvPr/>
        </p:nvSpPr>
        <p:spPr>
          <a:xfrm>
            <a:off x="9281160" y="3611880"/>
            <a:ext cx="2377440" cy="2926080"/>
          </a:xfrm>
          <a:prstGeom prst="rect">
            <a:avLst/>
          </a:prstGeom>
          <a:noFill/>
        </p:spPr>
        <p:txBody>
          <a:bodyPr wrap="square" lIns="0" rIns="0" tIns="0" bIns="0">
            <a:spAutoFit/>
          </a:bodyPr>
          <a:lstStyle/>
          <a:p>
            <a:pPr algn="l">
              <a:lnSpc>
                <a:spcPct val="130000"/>
              </a:lnSpc>
            </a:pPr>
            <a:r>
              <a:rPr sz="1300" b="0" i="0">
                <a:solidFill>
                  <a:srgbClr val="000005"/>
                </a:solidFill>
                <a:latin typeface="Roboto Light"/>
              </a:rPr>
              <a:t>Monthly sales are steady all year (no seasonal decline), with one clear spike in the week before Christmas. Chips are a reliable, dependable category — the opportunity here is about which customers to grow, not fixing a declining trend.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00005"/>
                </a:solidFill>
                <a:latin typeface="Roboto"/>
              </a:rPr>
              <a:t>Two different stories explain who drives sales</a:t>
            </a:r>
          </a:p>
        </p:txBody>
      </p:sp>
      <p:pic>
        <p:nvPicPr>
          <p:cNvPr id="3" name="Picture 2" descr="cat_segment_sales.png"/>
          <p:cNvPicPr>
            <a:picLocks noChangeAspect="1"/>
          </p:cNvPicPr>
          <p:nvPr/>
        </p:nvPicPr>
        <p:blipFill>
          <a:blip r:embed="rId2"/>
          <a:stretch>
            <a:fillRect/>
          </a:stretch>
        </p:blipFill>
        <p:spPr>
          <a:xfrm>
            <a:off x="2145062" y="1417320"/>
            <a:ext cx="8465755" cy="3246120"/>
          </a:xfrm>
          <a:prstGeom prst="rect">
            <a:avLst/>
          </a:prstGeom>
        </p:spPr>
      </p:pic>
      <p:sp>
        <p:nvSpPr>
          <p:cNvPr id="4" name="Rounded Rectangle 3"/>
          <p:cNvSpPr/>
          <p:nvPr/>
        </p:nvSpPr>
        <p:spPr>
          <a:xfrm>
            <a:off x="1097280" y="4846320"/>
            <a:ext cx="1554480" cy="365760"/>
          </a:xfrm>
          <a:prstGeom prst="roundRect">
            <a:avLst>
              <a:gd name="adj" fmla="val 50000"/>
            </a:avLst>
          </a:prstGeom>
          <a:solidFill>
            <a:srgbClr val="3F68AD"/>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0" bIns="0" wrap="square"/>
          <a:lstStyle/>
          <a:p>
            <a:pPr algn="ctr"/>
            <a:r>
              <a:rPr sz="1200" b="1">
                <a:solidFill>
                  <a:srgbClr val="FFFFFF"/>
                </a:solidFill>
                <a:latin typeface="Roboto"/>
              </a:rPr>
              <a:t>VOLUME</a:t>
            </a:r>
          </a:p>
        </p:txBody>
      </p:sp>
      <p:sp>
        <p:nvSpPr>
          <p:cNvPr id="5" name="TextBox 4"/>
          <p:cNvSpPr txBox="1"/>
          <p:nvPr/>
        </p:nvSpPr>
        <p:spPr>
          <a:xfrm>
            <a:off x="1097280" y="5303520"/>
            <a:ext cx="5052060" cy="1188720"/>
          </a:xfrm>
          <a:prstGeom prst="rect">
            <a:avLst/>
          </a:prstGeom>
          <a:noFill/>
        </p:spPr>
        <p:txBody>
          <a:bodyPr wrap="square" lIns="0" rIns="0" tIns="0" bIns="0">
            <a:spAutoFit/>
          </a:bodyPr>
          <a:lstStyle/>
          <a:p>
            <a:pPr algn="l">
              <a:lnSpc>
                <a:spcPct val="125000"/>
              </a:lnSpc>
            </a:pPr>
            <a:r>
              <a:rPr sz="1250" b="0" i="0">
                <a:solidFill>
                  <a:srgbClr val="000005"/>
                </a:solidFill>
                <a:latin typeface="Roboto Light"/>
              </a:rPr>
              <a:t>Families (any tier) buy 8.7–9.3 packets per customer, every trip — the highest of any lifestage. This is what drives Budget - Older Families to the top of the sales chart.</a:t>
            </a:r>
          </a:p>
        </p:txBody>
      </p:sp>
      <p:sp>
        <p:nvSpPr>
          <p:cNvPr id="6" name="Rounded Rectangle 5"/>
          <p:cNvSpPr/>
          <p:nvPr/>
        </p:nvSpPr>
        <p:spPr>
          <a:xfrm>
            <a:off x="6606540" y="4846320"/>
            <a:ext cx="1554480" cy="365760"/>
          </a:xfrm>
          <a:prstGeom prst="roundRect">
            <a:avLst>
              <a:gd name="adj" fmla="val 50000"/>
            </a:avLst>
          </a:prstGeom>
          <a:solidFill>
            <a:srgbClr val="EF6347"/>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0" bIns="0" wrap="square"/>
          <a:lstStyle/>
          <a:p>
            <a:pPr algn="ctr"/>
            <a:r>
              <a:rPr sz="1200" b="1">
                <a:solidFill>
                  <a:srgbClr val="FFFFFF"/>
                </a:solidFill>
                <a:latin typeface="Roboto"/>
              </a:rPr>
              <a:t>REACH</a:t>
            </a:r>
          </a:p>
        </p:txBody>
      </p:sp>
      <p:sp>
        <p:nvSpPr>
          <p:cNvPr id="7" name="TextBox 6"/>
          <p:cNvSpPr txBox="1"/>
          <p:nvPr/>
        </p:nvSpPr>
        <p:spPr>
          <a:xfrm>
            <a:off x="6606540" y="5303520"/>
            <a:ext cx="5052060" cy="1188720"/>
          </a:xfrm>
          <a:prstGeom prst="rect">
            <a:avLst/>
          </a:prstGeom>
          <a:noFill/>
        </p:spPr>
        <p:txBody>
          <a:bodyPr wrap="square" lIns="0" rIns="0" tIns="0" bIns="0">
            <a:spAutoFit/>
          </a:bodyPr>
          <a:lstStyle/>
          <a:p>
            <a:pPr algn="l">
              <a:lnSpc>
                <a:spcPct val="125000"/>
              </a:lnSpc>
            </a:pPr>
            <a:r>
              <a:rPr sz="1250" b="0" i="0">
                <a:solidFill>
                  <a:srgbClr val="000005"/>
                </a:solidFill>
                <a:latin typeface="Roboto Light"/>
              </a:rPr>
              <a:t>Mainstream Young Singles/Couples and Retirees buy far fewer packets each, but there are simply more of these customers than any other segment — the largest customer base in the category.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00005"/>
                </a:solidFill>
                <a:latin typeface="Roboto"/>
              </a:rPr>
              <a:t>Mainstream shoppers pay more for the same category</a:t>
            </a:r>
          </a:p>
        </p:txBody>
      </p:sp>
      <p:pic>
        <p:nvPicPr>
          <p:cNvPr id="3" name="Picture 2" descr="cat_price_premium.png"/>
          <p:cNvPicPr>
            <a:picLocks noChangeAspect="1"/>
          </p:cNvPicPr>
          <p:nvPr/>
        </p:nvPicPr>
        <p:blipFill>
          <a:blip r:embed="rId2"/>
          <a:stretch>
            <a:fillRect/>
          </a:stretch>
        </p:blipFill>
        <p:spPr>
          <a:xfrm>
            <a:off x="1097280" y="1884628"/>
            <a:ext cx="6035040" cy="3545943"/>
          </a:xfrm>
          <a:prstGeom prst="rect">
            <a:avLst/>
          </a:prstGeom>
        </p:spPr>
      </p:pic>
      <p:sp>
        <p:nvSpPr>
          <p:cNvPr id="4" name="TextBox 3"/>
          <p:cNvSpPr txBox="1"/>
          <p:nvPr/>
        </p:nvSpPr>
        <p:spPr>
          <a:xfrm>
            <a:off x="7452360" y="1828800"/>
            <a:ext cx="4206240" cy="1005840"/>
          </a:xfrm>
          <a:prstGeom prst="rect">
            <a:avLst/>
          </a:prstGeom>
          <a:noFill/>
        </p:spPr>
        <p:txBody>
          <a:bodyPr wrap="square" lIns="0" rIns="0" tIns="0" bIns="0">
            <a:spAutoFit/>
          </a:bodyPr>
          <a:lstStyle/>
          <a:p>
            <a:pPr algn="l">
              <a:lnSpc>
                <a:spcPct val="115000"/>
              </a:lnSpc>
            </a:pPr>
            <a:r>
              <a:rPr sz="4400" b="1" i="0">
                <a:solidFill>
                  <a:srgbClr val="EF6347"/>
                </a:solidFill>
                <a:latin typeface="Roboto Light"/>
              </a:rPr>
              <a:t>+9.1%</a:t>
            </a:r>
          </a:p>
        </p:txBody>
      </p:sp>
      <p:sp>
        <p:nvSpPr>
          <p:cNvPr id="5" name="TextBox 4"/>
          <p:cNvSpPr txBox="1"/>
          <p:nvPr/>
        </p:nvSpPr>
        <p:spPr>
          <a:xfrm>
            <a:off x="7452360" y="2788920"/>
            <a:ext cx="4206240" cy="640080"/>
          </a:xfrm>
          <a:prstGeom prst="rect">
            <a:avLst/>
          </a:prstGeom>
          <a:noFill/>
        </p:spPr>
        <p:txBody>
          <a:bodyPr wrap="square" lIns="0" rIns="0" tIns="0" bIns="0">
            <a:spAutoFit/>
          </a:bodyPr>
          <a:lstStyle/>
          <a:p>
            <a:pPr algn="l">
              <a:lnSpc>
                <a:spcPct val="120000"/>
              </a:lnSpc>
            </a:pPr>
            <a:r>
              <a:rPr sz="1350" b="0" i="0">
                <a:solidFill>
                  <a:srgbClr val="4A4A4E"/>
                </a:solidFill>
                <a:latin typeface="Roboto Light"/>
              </a:rPr>
              <a:t>More paid per packet by Mainstream vs.</a:t>
            </a:r>
          </a:p>
          <a:p>
            <a:pPr algn="l">
              <a:lnSpc>
                <a:spcPct val="120000"/>
              </a:lnSpc>
            </a:pPr>
            <a:r>
              <a:rPr sz="1350" b="0" i="0">
                <a:solidFill>
                  <a:srgbClr val="4A4A4E"/>
                </a:solidFill>
                <a:latin typeface="Roboto Light"/>
              </a:rPr>
              <a:t>Budget/Premium Young &amp; Midage Singles/Couples</a:t>
            </a:r>
          </a:p>
          <a:p>
            <a:pPr algn="l">
              <a:lnSpc>
                <a:spcPct val="120000"/>
              </a:lnSpc>
            </a:pPr>
            <a:r>
              <a:rPr sz="1350" b="0" i="0">
                <a:solidFill>
                  <a:srgbClr val="4A4A4E"/>
                </a:solidFill>
                <a:latin typeface="Roboto Light"/>
              </a:rPr>
              <a:t>(t = 38.1, p &lt; 0.0001)</a:t>
            </a:r>
          </a:p>
        </p:txBody>
      </p:sp>
      <p:sp>
        <p:nvSpPr>
          <p:cNvPr id="6" name="TextBox 5"/>
          <p:cNvSpPr txBox="1"/>
          <p:nvPr/>
        </p:nvSpPr>
        <p:spPr>
          <a:xfrm>
            <a:off x="7452360" y="3611880"/>
            <a:ext cx="4206240" cy="2926080"/>
          </a:xfrm>
          <a:prstGeom prst="rect">
            <a:avLst/>
          </a:prstGeom>
          <a:noFill/>
        </p:spPr>
        <p:txBody>
          <a:bodyPr wrap="square" lIns="0" rIns="0" tIns="0" bIns="0">
            <a:spAutoFit/>
          </a:bodyPr>
          <a:lstStyle/>
          <a:p>
            <a:pPr algn="l">
              <a:lnSpc>
                <a:spcPct val="130000"/>
              </a:lnSpc>
            </a:pPr>
            <a:r>
              <a:rPr sz="1300" b="0" i="0">
                <a:solidFill>
                  <a:srgbClr val="000005"/>
                </a:solidFill>
                <a:latin typeface="Roboto Light"/>
              </a:rPr>
              <a:t>This premium is specific to Young and Midage Singles/Couples — it does not hold for Mainstream Retirees, who pay about the same as their Budget/Premium peers. The willingness to pay more is a targeted, not a blanket, opportunity.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00005"/>
                </a:solidFill>
                <a:latin typeface="Roboto"/>
              </a:rPr>
              <a:t>Young Singles/Couples &amp; Retirees are our largest customer base</a:t>
            </a:r>
          </a:p>
        </p:txBody>
      </p:sp>
      <p:pic>
        <p:nvPicPr>
          <p:cNvPr id="3" name="Picture 2" descr="cat_segment_customers.png"/>
          <p:cNvPicPr>
            <a:picLocks noChangeAspect="1"/>
          </p:cNvPicPr>
          <p:nvPr/>
        </p:nvPicPr>
        <p:blipFill>
          <a:blip r:embed="rId2"/>
          <a:stretch>
            <a:fillRect/>
          </a:stretch>
        </p:blipFill>
        <p:spPr>
          <a:xfrm>
            <a:off x="1657005" y="1554480"/>
            <a:ext cx="9304709" cy="3566159"/>
          </a:xfrm>
          <a:prstGeom prst="rect">
            <a:avLst/>
          </a:prstGeom>
        </p:spPr>
      </p:pic>
      <p:sp>
        <p:nvSpPr>
          <p:cNvPr id="4" name="TextBox 3"/>
          <p:cNvSpPr txBox="1"/>
          <p:nvPr/>
        </p:nvSpPr>
        <p:spPr>
          <a:xfrm>
            <a:off x="1097280" y="5166359"/>
            <a:ext cx="10561320" cy="822960"/>
          </a:xfrm>
          <a:prstGeom prst="rect">
            <a:avLst/>
          </a:prstGeom>
          <a:noFill/>
        </p:spPr>
        <p:txBody>
          <a:bodyPr wrap="square" lIns="0" rIns="0" tIns="0" bIns="0">
            <a:spAutoFit/>
          </a:bodyPr>
          <a:lstStyle/>
          <a:p>
            <a:pPr algn="l">
              <a:lnSpc>
                <a:spcPct val="130000"/>
              </a:lnSpc>
            </a:pPr>
            <a:r>
              <a:rPr sz="1300" b="0" i="0">
                <a:solidFill>
                  <a:srgbClr val="4A4A4E"/>
                </a:solidFill>
                <a:latin typeface="Roboto Light"/>
              </a:rPr>
              <a:t>Mainstream Young Singles/Couples (7,930 customers) and Mainstream Retirees (6,382) are, by a clear margin, the two largest customer segments buying chips today — the foundation of the “reach” opportunity.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00005"/>
                </a:solidFill>
                <a:latin typeface="Roboto"/>
              </a:rPr>
              <a:t>The target segment has clear, actionable brand preferences</a:t>
            </a:r>
          </a:p>
        </p:txBody>
      </p:sp>
      <p:pic>
        <p:nvPicPr>
          <p:cNvPr id="3" name="Picture 2" descr="cat_brand_affinity.png"/>
          <p:cNvPicPr>
            <a:picLocks noChangeAspect="1"/>
          </p:cNvPicPr>
          <p:nvPr/>
        </p:nvPicPr>
        <p:blipFill>
          <a:blip r:embed="rId2"/>
          <a:stretch>
            <a:fillRect/>
          </a:stretch>
        </p:blipFill>
        <p:spPr>
          <a:xfrm>
            <a:off x="1097280" y="1824016"/>
            <a:ext cx="6309360" cy="3758608"/>
          </a:xfrm>
          <a:prstGeom prst="rect">
            <a:avLst/>
          </a:prstGeom>
        </p:spPr>
      </p:pic>
      <p:sp>
        <p:nvSpPr>
          <p:cNvPr id="4" name="TextBox 3"/>
          <p:cNvSpPr txBox="1"/>
          <p:nvPr/>
        </p:nvSpPr>
        <p:spPr>
          <a:xfrm>
            <a:off x="7726680" y="1828800"/>
            <a:ext cx="3931920" cy="1005840"/>
          </a:xfrm>
          <a:prstGeom prst="rect">
            <a:avLst/>
          </a:prstGeom>
          <a:noFill/>
        </p:spPr>
        <p:txBody>
          <a:bodyPr wrap="square" lIns="0" rIns="0" tIns="0" bIns="0">
            <a:spAutoFit/>
          </a:bodyPr>
          <a:lstStyle/>
          <a:p>
            <a:pPr algn="l">
              <a:lnSpc>
                <a:spcPct val="115000"/>
              </a:lnSpc>
            </a:pPr>
            <a:r>
              <a:rPr sz="4400" b="1" i="0">
                <a:solidFill>
                  <a:srgbClr val="EF6347"/>
                </a:solidFill>
                <a:latin typeface="Roboto Light"/>
              </a:rPr>
              <a:t>1.2x+</a:t>
            </a:r>
          </a:p>
        </p:txBody>
      </p:sp>
      <p:sp>
        <p:nvSpPr>
          <p:cNvPr id="5" name="TextBox 4"/>
          <p:cNvSpPr txBox="1"/>
          <p:nvPr/>
        </p:nvSpPr>
        <p:spPr>
          <a:xfrm>
            <a:off x="7726680" y="2788920"/>
            <a:ext cx="3931920" cy="640080"/>
          </a:xfrm>
          <a:prstGeom prst="rect">
            <a:avLst/>
          </a:prstGeom>
          <a:noFill/>
        </p:spPr>
        <p:txBody>
          <a:bodyPr wrap="square" lIns="0" rIns="0" tIns="0" bIns="0">
            <a:spAutoFit/>
          </a:bodyPr>
          <a:lstStyle/>
          <a:p>
            <a:pPr algn="l">
              <a:lnSpc>
                <a:spcPct val="120000"/>
              </a:lnSpc>
            </a:pPr>
            <a:r>
              <a:rPr sz="1350" b="0" i="0">
                <a:solidFill>
                  <a:srgbClr val="4A4A4E"/>
                </a:solidFill>
                <a:latin typeface="Roboto Light"/>
              </a:rPr>
              <a:t>Over-indexing on Tyrrells, Twisties, Doritos,</a:t>
            </a:r>
          </a:p>
          <a:p>
            <a:pPr algn="l">
              <a:lnSpc>
                <a:spcPct val="120000"/>
              </a:lnSpc>
            </a:pPr>
            <a:r>
              <a:rPr sz="1350" b="0" i="0">
                <a:solidFill>
                  <a:srgbClr val="4A4A4E"/>
                </a:solidFill>
                <a:latin typeface="Roboto Light"/>
              </a:rPr>
              <a:t>Kettle, Tostitos &amp; Pringles</a:t>
            </a:r>
          </a:p>
        </p:txBody>
      </p:sp>
      <p:sp>
        <p:nvSpPr>
          <p:cNvPr id="6" name="TextBox 5"/>
          <p:cNvSpPr txBox="1"/>
          <p:nvPr/>
        </p:nvSpPr>
        <p:spPr>
          <a:xfrm>
            <a:off x="7726680" y="3611880"/>
            <a:ext cx="3931920" cy="2926080"/>
          </a:xfrm>
          <a:prstGeom prst="rect">
            <a:avLst/>
          </a:prstGeom>
          <a:noFill/>
        </p:spPr>
        <p:txBody>
          <a:bodyPr wrap="square" lIns="0" rIns="0" tIns="0" bIns="0">
            <a:spAutoFit/>
          </a:bodyPr>
          <a:lstStyle/>
          <a:p>
            <a:pPr algn="l">
              <a:lnSpc>
                <a:spcPct val="130000"/>
              </a:lnSpc>
            </a:pPr>
            <a:r>
              <a:rPr sz="1300" b="0" i="0">
                <a:solidFill>
                  <a:srgbClr val="000005"/>
                </a:solidFill>
                <a:latin typeface="Roboto Light"/>
              </a:rPr>
              <a:t>Mainstream Young Singles/Couples buy recognised, mainstream snack brands well above their share — and under-buy home-brand and lower-profile options (Woolworths, Burger Rings, Sunbites). Range and promotion should lean into the six brands on the left.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b="1">
                <a:solidFill>
                  <a:srgbClr val="000005"/>
                </a:solidFill>
                <a:latin typeface="Roboto"/>
              </a:rPr>
              <a:t>02</a:t>
            </a:r>
          </a:p>
        </p:txBody>
      </p:sp>
      <p:sp>
        <p:nvSpPr>
          <p:cNvPr id="3" name="Text Placeholder 2"/>
          <p:cNvSpPr>
            <a:spLocks noGrp="1"/>
          </p:cNvSpPr>
          <p:nvPr>
            <p:ph type="body" idx="1"/>
          </p:nvPr>
        </p:nvSpPr>
        <p:spPr/>
        <p:txBody>
          <a:bodyPr/>
          <a:lstStyle/>
          <a:p>
            <a:r>
              <a:rPr sz="3000">
                <a:solidFill>
                  <a:srgbClr val="000005"/>
                </a:solidFill>
                <a:latin typeface="Roboto Light"/>
              </a:rPr>
              <a:t>Trial store performance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00005"/>
                </a:solidFill>
                <a:latin typeface="Roboto"/>
              </a:rPr>
              <a:t>Matching each trial store to a lookalike control</a:t>
            </a:r>
          </a:p>
        </p:txBody>
      </p:sp>
      <p:pic>
        <p:nvPicPr>
          <p:cNvPr id="3" name="Picture 2" descr="trial_methodology.png"/>
          <p:cNvPicPr>
            <a:picLocks noChangeAspect="1"/>
          </p:cNvPicPr>
          <p:nvPr/>
        </p:nvPicPr>
        <p:blipFill>
          <a:blip r:embed="rId2"/>
          <a:stretch>
            <a:fillRect/>
          </a:stretch>
        </p:blipFill>
        <p:spPr>
          <a:xfrm>
            <a:off x="1097280" y="2137507"/>
            <a:ext cx="6400800" cy="2857305"/>
          </a:xfrm>
          <a:prstGeom prst="rect">
            <a:avLst/>
          </a:prstGeom>
        </p:spPr>
      </p:pic>
      <p:sp>
        <p:nvSpPr>
          <p:cNvPr id="4" name="TextBox 3"/>
          <p:cNvSpPr txBox="1"/>
          <p:nvPr/>
        </p:nvSpPr>
        <p:spPr>
          <a:xfrm>
            <a:off x="7818120" y="1828800"/>
            <a:ext cx="3840480" cy="1005840"/>
          </a:xfrm>
          <a:prstGeom prst="rect">
            <a:avLst/>
          </a:prstGeom>
          <a:noFill/>
        </p:spPr>
        <p:txBody>
          <a:bodyPr wrap="square" lIns="0" rIns="0" tIns="0" bIns="0">
            <a:spAutoFit/>
          </a:bodyPr>
          <a:lstStyle/>
          <a:p>
            <a:pPr algn="l">
              <a:lnSpc>
                <a:spcPct val="115000"/>
              </a:lnSpc>
            </a:pPr>
            <a:r>
              <a:rPr sz="4400" b="1" i="0">
                <a:solidFill>
                  <a:srgbClr val="44D6A3"/>
                </a:solidFill>
                <a:latin typeface="Roboto Light"/>
              </a:rPr>
              <a:t>233 · 155 · 237</a:t>
            </a:r>
          </a:p>
        </p:txBody>
      </p:sp>
      <p:sp>
        <p:nvSpPr>
          <p:cNvPr id="5" name="TextBox 4"/>
          <p:cNvSpPr txBox="1"/>
          <p:nvPr/>
        </p:nvSpPr>
        <p:spPr>
          <a:xfrm>
            <a:off x="7818120" y="2788920"/>
            <a:ext cx="3840480" cy="640080"/>
          </a:xfrm>
          <a:prstGeom prst="rect">
            <a:avLst/>
          </a:prstGeom>
          <a:noFill/>
        </p:spPr>
        <p:txBody>
          <a:bodyPr wrap="square" lIns="0" rIns="0" tIns="0" bIns="0">
            <a:spAutoFit/>
          </a:bodyPr>
          <a:lstStyle/>
          <a:p>
            <a:pPr algn="l">
              <a:lnSpc>
                <a:spcPct val="120000"/>
              </a:lnSpc>
            </a:pPr>
            <a:r>
              <a:rPr sz="1350" b="0" i="0">
                <a:solidFill>
                  <a:srgbClr val="4A4A4E"/>
                </a:solidFill>
                <a:latin typeface="Roboto Light"/>
              </a:rPr>
              <a:t>Control stores selected for trial</a:t>
            </a:r>
          </a:p>
          <a:p>
            <a:pPr algn="l">
              <a:lnSpc>
                <a:spcPct val="120000"/>
              </a:lnSpc>
            </a:pPr>
            <a:r>
              <a:rPr sz="1350" b="0" i="0">
                <a:solidFill>
                  <a:srgbClr val="4A4A4E"/>
                </a:solidFill>
                <a:latin typeface="Roboto Light"/>
              </a:rPr>
              <a:t>stores 77, 86 and 88</a:t>
            </a:r>
          </a:p>
        </p:txBody>
      </p:sp>
      <p:sp>
        <p:nvSpPr>
          <p:cNvPr id="6" name="TextBox 5"/>
          <p:cNvSpPr txBox="1"/>
          <p:nvPr/>
        </p:nvSpPr>
        <p:spPr>
          <a:xfrm>
            <a:off x="7818120" y="3611880"/>
            <a:ext cx="3840480" cy="2926080"/>
          </a:xfrm>
          <a:prstGeom prst="rect">
            <a:avLst/>
          </a:prstGeom>
          <a:noFill/>
        </p:spPr>
        <p:txBody>
          <a:bodyPr wrap="square" lIns="0" rIns="0" tIns="0" bIns="0">
            <a:spAutoFit/>
          </a:bodyPr>
          <a:lstStyle/>
          <a:p>
            <a:pPr algn="l">
              <a:lnSpc>
                <a:spcPct val="130000"/>
              </a:lnSpc>
            </a:pPr>
            <a:r>
              <a:rPr sz="1300" b="0" i="0">
                <a:solidFill>
                  <a:srgbClr val="000005"/>
                </a:solidFill>
                <a:latin typeface="Roboto Light"/>
              </a:rPr>
              <a:t>For each trial store, we scored every other full-year store on how closely its pre-trial monthly sales and customer counts tracked the trial store (correlation + magnitude similarity). The closest match becomes the control — store 233 for trial store 77, shown here.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00005"/>
                </a:solidFill>
                <a:latin typeface="Roboto"/>
              </a:rPr>
              <a:t>2 of 3 trial stores show a significant uplift</a:t>
            </a:r>
          </a:p>
        </p:txBody>
      </p:sp>
      <p:graphicFrame>
        <p:nvGraphicFramePr>
          <p:cNvPr id="3" name="Table 2"/>
          <p:cNvGraphicFramePr>
            <a:graphicFrameLocks noGrp="1"/>
          </p:cNvGraphicFramePr>
          <p:nvPr/>
        </p:nvGraphicFramePr>
        <p:xfrm>
          <a:off x="1097280" y="1691640"/>
          <a:ext cx="10561320" cy="3282696"/>
        </p:xfrm>
        <a:graphic>
          <a:graphicData uri="http://schemas.openxmlformats.org/drawingml/2006/table">
            <a:tbl>
              <a:tblPr firstRow="1" bandRow="1">
                <a:tableStyleId>{5C22544A-7EE6-4342-B048-85BDC9FD1C3A}</a:tableStyleId>
              </a:tblPr>
              <a:tblGrid>
                <a:gridCol w="1554480"/>
                <a:gridCol w="1737360"/>
                <a:gridCol w="2468880"/>
                <a:gridCol w="2468880"/>
                <a:gridCol w="2331720"/>
              </a:tblGrid>
              <a:tr h="457200">
                <a:tc>
                  <a:txBody>
                    <a:bodyPr/>
                    <a:lstStyle/>
                    <a:p>
                      <a:pPr algn="l"/>
                      <a:r>
                        <a:rPr sz="1400" b="1">
                          <a:solidFill>
                            <a:srgbClr val="FFFFFF"/>
                          </a:solidFill>
                          <a:latin typeface="Roboto Light"/>
                        </a:rPr>
                        <a:t>Trial store</a:t>
                      </a:r>
                    </a:p>
                  </a:txBody>
                  <a:tcPr anchor="ctr" marL="127000" marR="127000">
                    <a:solidFill>
                      <a:srgbClr val="000005"/>
                    </a:solidFill>
                  </a:tcPr>
                </a:tc>
                <a:tc>
                  <a:txBody>
                    <a:bodyPr/>
                    <a:lstStyle/>
                    <a:p>
                      <a:pPr algn="ctr"/>
                      <a:r>
                        <a:rPr sz="1400" b="1">
                          <a:solidFill>
                            <a:srgbClr val="FFFFFF"/>
                          </a:solidFill>
                          <a:latin typeface="Roboto Light"/>
                        </a:rPr>
                        <a:t>Control store</a:t>
                      </a:r>
                    </a:p>
                  </a:txBody>
                  <a:tcPr anchor="ctr" marL="127000" marR="127000">
                    <a:solidFill>
                      <a:srgbClr val="000005"/>
                    </a:solidFill>
                  </a:tcPr>
                </a:tc>
                <a:tc>
                  <a:txBody>
                    <a:bodyPr/>
                    <a:lstStyle/>
                    <a:p>
                      <a:pPr algn="ctr"/>
                      <a:r>
                        <a:rPr sz="1400" b="1">
                          <a:solidFill>
                            <a:srgbClr val="FFFFFF"/>
                          </a:solidFill>
                          <a:latin typeface="Roboto Light"/>
                        </a:rPr>
                        <a:t>Sales</a:t>
                      </a:r>
                    </a:p>
                  </a:txBody>
                  <a:tcPr anchor="ctr" marL="127000" marR="127000">
                    <a:solidFill>
                      <a:srgbClr val="000005"/>
                    </a:solidFill>
                  </a:tcPr>
                </a:tc>
                <a:tc>
                  <a:txBody>
                    <a:bodyPr/>
                    <a:lstStyle/>
                    <a:p>
                      <a:pPr algn="ctr"/>
                      <a:r>
                        <a:rPr sz="1400" b="1">
                          <a:solidFill>
                            <a:srgbClr val="FFFFFF"/>
                          </a:solidFill>
                          <a:latin typeface="Roboto Light"/>
                        </a:rPr>
                        <a:t>Customers</a:t>
                      </a:r>
                    </a:p>
                  </a:txBody>
                  <a:tcPr anchor="ctr" marL="127000" marR="127000">
                    <a:solidFill>
                      <a:srgbClr val="000005"/>
                    </a:solidFill>
                  </a:tcPr>
                </a:tc>
                <a:tc>
                  <a:txBody>
                    <a:bodyPr/>
                    <a:lstStyle/>
                    <a:p>
                      <a:pPr algn="ctr"/>
                      <a:r>
                        <a:rPr sz="1400" b="1">
                          <a:solidFill>
                            <a:srgbClr val="FFFFFF"/>
                          </a:solidFill>
                          <a:latin typeface="Roboto Light"/>
                        </a:rPr>
                        <a:t>Verdict</a:t>
                      </a:r>
                    </a:p>
                  </a:txBody>
                  <a:tcPr anchor="ctr" marL="127000" marR="127000">
                    <a:solidFill>
                      <a:srgbClr val="000005"/>
                    </a:solidFill>
                  </a:tcPr>
                </a:tc>
              </a:tr>
              <a:tr h="941832">
                <a:tc>
                  <a:txBody>
                    <a:bodyPr/>
                    <a:lstStyle/>
                    <a:p>
                      <a:pPr algn="l"/>
                      <a:r>
                        <a:rPr sz="1350">
                          <a:solidFill>
                            <a:srgbClr val="000005"/>
                          </a:solidFill>
                          <a:latin typeface="Roboto Light"/>
                        </a:rPr>
                        <a:t>77</a:t>
                      </a:r>
                    </a:p>
                  </a:txBody>
                  <a:tcPr anchor="ctr" marL="127000" marR="127000">
                    <a:solidFill>
                      <a:srgbClr val="FFFFFF"/>
                    </a:solidFill>
                  </a:tcPr>
                </a:tc>
                <a:tc>
                  <a:txBody>
                    <a:bodyPr/>
                    <a:lstStyle/>
                    <a:p>
                      <a:pPr algn="ctr"/>
                      <a:r>
                        <a:rPr sz="1350">
                          <a:solidFill>
                            <a:srgbClr val="000005"/>
                          </a:solidFill>
                          <a:latin typeface="Roboto Light"/>
                        </a:rPr>
                        <a:t>233</a:t>
                      </a:r>
                    </a:p>
                  </a:txBody>
                  <a:tcPr anchor="ctr" marL="127000" marR="127000">
                    <a:solidFill>
                      <a:srgbClr val="FFFFFF"/>
                    </a:solidFill>
                  </a:tcPr>
                </a:tc>
                <a:tc>
                  <a:txBody>
                    <a:bodyPr/>
                    <a:lstStyle/>
                    <a:p>
                      <a:pPr algn="ctr"/>
                      <a:r>
                        <a:rPr sz="1350">
                          <a:solidFill>
                            <a:srgbClr val="000005"/>
                          </a:solidFill>
                          <a:latin typeface="Roboto Light"/>
                        </a:rPr>
                        <a:t>Significant</a:t>
                      </a:r>
                    </a:p>
                    <a:p>
                      <a:pPr algn="ctr"/>
                      <a:r>
                        <a:rPr sz="1350">
                          <a:solidFill>
                            <a:srgbClr val="000005"/>
                          </a:solidFill>
                          <a:latin typeface="Roboto Light"/>
                        </a:rPr>
                        <a:t>(Mar, Apr)</a:t>
                      </a:r>
                    </a:p>
                  </a:txBody>
                  <a:tcPr anchor="ctr" marL="127000" marR="127000">
                    <a:solidFill>
                      <a:srgbClr val="FFFFFF"/>
                    </a:solidFill>
                  </a:tcPr>
                </a:tc>
                <a:tc>
                  <a:txBody>
                    <a:bodyPr/>
                    <a:lstStyle/>
                    <a:p>
                      <a:pPr algn="ctr"/>
                      <a:r>
                        <a:rPr sz="1350">
                          <a:solidFill>
                            <a:srgbClr val="000005"/>
                          </a:solidFill>
                          <a:latin typeface="Roboto Light"/>
                        </a:rPr>
                        <a:t>Significant</a:t>
                      </a:r>
                    </a:p>
                    <a:p>
                      <a:pPr algn="ctr"/>
                      <a:r>
                        <a:rPr sz="1350">
                          <a:solidFill>
                            <a:srgbClr val="000005"/>
                          </a:solidFill>
                          <a:latin typeface="Roboto Light"/>
                        </a:rPr>
                        <a:t>(Mar, Apr)</a:t>
                      </a:r>
                    </a:p>
                  </a:txBody>
                  <a:tcPr anchor="ctr" marL="127000" marR="127000">
                    <a:solidFill>
                      <a:srgbClr val="FFFFFF"/>
                    </a:solidFill>
                  </a:tcPr>
                </a:tc>
                <a:tc>
                  <a:txBody>
                    <a:bodyPr/>
                    <a:lstStyle/>
                    <a:p>
                      <a:pPr algn="ctr"/>
                      <a:r>
                        <a:rPr sz="1350" b="1">
                          <a:solidFill>
                            <a:srgbClr val="44D6A3"/>
                          </a:solidFill>
                          <a:latin typeface="Roboto Light"/>
                        </a:rPr>
                        <a:t>Positive</a:t>
                      </a:r>
                    </a:p>
                  </a:txBody>
                  <a:tcPr anchor="ctr" marL="127000" marR="127000">
                    <a:solidFill>
                      <a:srgbClr val="FFFFFF"/>
                    </a:solidFill>
                  </a:tcPr>
                </a:tc>
              </a:tr>
              <a:tr h="941832">
                <a:tc>
                  <a:txBody>
                    <a:bodyPr/>
                    <a:lstStyle/>
                    <a:p>
                      <a:pPr algn="l"/>
                      <a:r>
                        <a:rPr sz="1350">
                          <a:solidFill>
                            <a:srgbClr val="000005"/>
                          </a:solidFill>
                          <a:latin typeface="Roboto Light"/>
                        </a:rPr>
                        <a:t>86</a:t>
                      </a:r>
                    </a:p>
                  </a:txBody>
                  <a:tcPr anchor="ctr" marL="127000" marR="127000">
                    <a:solidFill>
                      <a:srgbClr val="ECE8E4"/>
                    </a:solidFill>
                  </a:tcPr>
                </a:tc>
                <a:tc>
                  <a:txBody>
                    <a:bodyPr/>
                    <a:lstStyle/>
                    <a:p>
                      <a:pPr algn="ctr"/>
                      <a:r>
                        <a:rPr sz="1350">
                          <a:solidFill>
                            <a:srgbClr val="000005"/>
                          </a:solidFill>
                          <a:latin typeface="Roboto Light"/>
                        </a:rPr>
                        <a:t>155</a:t>
                      </a:r>
                    </a:p>
                  </a:txBody>
                  <a:tcPr anchor="ctr" marL="127000" marR="127000">
                    <a:solidFill>
                      <a:srgbClr val="ECE8E4"/>
                    </a:solidFill>
                  </a:tcPr>
                </a:tc>
                <a:tc>
                  <a:txBody>
                    <a:bodyPr/>
                    <a:lstStyle/>
                    <a:p>
                      <a:pPr algn="ctr"/>
                      <a:r>
                        <a:rPr sz="1350">
                          <a:solidFill>
                            <a:srgbClr val="000005"/>
                          </a:solidFill>
                          <a:latin typeface="Roboto Light"/>
                        </a:rPr>
                        <a:t>Not significant</a:t>
                      </a:r>
                    </a:p>
                    <a:p>
                      <a:pPr algn="ctr"/>
                      <a:r>
                        <a:rPr sz="1350">
                          <a:solidFill>
                            <a:srgbClr val="000005"/>
                          </a:solidFill>
                          <a:latin typeface="Roboto Light"/>
                        </a:rPr>
                        <a:t>(1 of 3 months)</a:t>
                      </a:r>
                    </a:p>
                  </a:txBody>
                  <a:tcPr anchor="ctr" marL="127000" marR="127000">
                    <a:solidFill>
                      <a:srgbClr val="ECE8E4"/>
                    </a:solidFill>
                  </a:tcPr>
                </a:tc>
                <a:tc>
                  <a:txBody>
                    <a:bodyPr/>
                    <a:lstStyle/>
                    <a:p>
                      <a:pPr algn="ctr"/>
                      <a:r>
                        <a:rPr sz="1350">
                          <a:solidFill>
                            <a:srgbClr val="000005"/>
                          </a:solidFill>
                          <a:latin typeface="Roboto Light"/>
                        </a:rPr>
                        <a:t>Significant</a:t>
                      </a:r>
                    </a:p>
                    <a:p>
                      <a:pPr algn="ctr"/>
                      <a:r>
                        <a:rPr sz="1350">
                          <a:solidFill>
                            <a:srgbClr val="000005"/>
                          </a:solidFill>
                          <a:latin typeface="Roboto Light"/>
                        </a:rPr>
                        <a:t>(all 3 months)</a:t>
                      </a:r>
                    </a:p>
                  </a:txBody>
                  <a:tcPr anchor="ctr" marL="127000" marR="127000">
                    <a:solidFill>
                      <a:srgbClr val="ECE8E4"/>
                    </a:solidFill>
                  </a:tcPr>
                </a:tc>
                <a:tc>
                  <a:txBody>
                    <a:bodyPr/>
                    <a:lstStyle/>
                    <a:p>
                      <a:pPr algn="ctr"/>
                      <a:r>
                        <a:rPr sz="1350" b="1">
                          <a:solidFill>
                            <a:srgbClr val="EF6347"/>
                          </a:solidFill>
                          <a:latin typeface="Roboto Light"/>
                        </a:rPr>
                        <a:t>Mixed — investigate</a:t>
                      </a:r>
                    </a:p>
                  </a:txBody>
                  <a:tcPr anchor="ctr" marL="127000" marR="127000">
                    <a:solidFill>
                      <a:srgbClr val="ECE8E4"/>
                    </a:solidFill>
                  </a:tcPr>
                </a:tc>
              </a:tr>
              <a:tr h="941832">
                <a:tc>
                  <a:txBody>
                    <a:bodyPr/>
                    <a:lstStyle/>
                    <a:p>
                      <a:pPr algn="l"/>
                      <a:r>
                        <a:rPr sz="1350">
                          <a:solidFill>
                            <a:srgbClr val="000005"/>
                          </a:solidFill>
                          <a:latin typeface="Roboto Light"/>
                        </a:rPr>
                        <a:t>88</a:t>
                      </a:r>
                    </a:p>
                  </a:txBody>
                  <a:tcPr anchor="ctr" marL="127000" marR="127000">
                    <a:solidFill>
                      <a:srgbClr val="FFFFFF"/>
                    </a:solidFill>
                  </a:tcPr>
                </a:tc>
                <a:tc>
                  <a:txBody>
                    <a:bodyPr/>
                    <a:lstStyle/>
                    <a:p>
                      <a:pPr algn="ctr"/>
                      <a:r>
                        <a:rPr sz="1350">
                          <a:solidFill>
                            <a:srgbClr val="000005"/>
                          </a:solidFill>
                          <a:latin typeface="Roboto Light"/>
                        </a:rPr>
                        <a:t>237</a:t>
                      </a:r>
                    </a:p>
                  </a:txBody>
                  <a:tcPr anchor="ctr" marL="127000" marR="127000">
                    <a:solidFill>
                      <a:srgbClr val="FFFFFF"/>
                    </a:solidFill>
                  </a:tcPr>
                </a:tc>
                <a:tc>
                  <a:txBody>
                    <a:bodyPr/>
                    <a:lstStyle/>
                    <a:p>
                      <a:pPr algn="ctr"/>
                      <a:r>
                        <a:rPr sz="1350">
                          <a:solidFill>
                            <a:srgbClr val="000005"/>
                          </a:solidFill>
                          <a:latin typeface="Roboto Light"/>
                        </a:rPr>
                        <a:t>Significant</a:t>
                      </a:r>
                    </a:p>
                    <a:p>
                      <a:pPr algn="ctr"/>
                      <a:r>
                        <a:rPr sz="1350">
                          <a:solidFill>
                            <a:srgbClr val="000005"/>
                          </a:solidFill>
                          <a:latin typeface="Roboto Light"/>
                        </a:rPr>
                        <a:t>(Mar, Apr)</a:t>
                      </a:r>
                    </a:p>
                  </a:txBody>
                  <a:tcPr anchor="ctr" marL="127000" marR="127000">
                    <a:solidFill>
                      <a:srgbClr val="FFFFFF"/>
                    </a:solidFill>
                  </a:tcPr>
                </a:tc>
                <a:tc>
                  <a:txBody>
                    <a:bodyPr/>
                    <a:lstStyle/>
                    <a:p>
                      <a:pPr algn="ctr"/>
                      <a:r>
                        <a:rPr sz="1350">
                          <a:solidFill>
                            <a:srgbClr val="000005"/>
                          </a:solidFill>
                          <a:latin typeface="Roboto Light"/>
                        </a:rPr>
                        <a:t>Significant</a:t>
                      </a:r>
                    </a:p>
                    <a:p>
                      <a:pPr algn="ctr"/>
                      <a:r>
                        <a:rPr sz="1350">
                          <a:solidFill>
                            <a:srgbClr val="000005"/>
                          </a:solidFill>
                          <a:latin typeface="Roboto Light"/>
                        </a:rPr>
                        <a:t>(Mar, Apr)</a:t>
                      </a:r>
                    </a:p>
                  </a:txBody>
                  <a:tcPr anchor="ctr" marL="127000" marR="127000">
                    <a:solidFill>
                      <a:srgbClr val="FFFFFF"/>
                    </a:solidFill>
                  </a:tcPr>
                </a:tc>
                <a:tc>
                  <a:txBody>
                    <a:bodyPr/>
                    <a:lstStyle/>
                    <a:p>
                      <a:pPr algn="ctr"/>
                      <a:r>
                        <a:rPr sz="1350" b="1">
                          <a:solidFill>
                            <a:srgbClr val="44D6A3"/>
                          </a:solidFill>
                          <a:latin typeface="Roboto Light"/>
                        </a:rPr>
                        <a:t>Positive</a:t>
                      </a:r>
                    </a:p>
                  </a:txBody>
                  <a:tcPr anchor="ctr" marL="127000" marR="127000">
                    <a:solidFill>
                      <a:srgbClr val="FFFFFF"/>
                    </a:solidFill>
                  </a:tcPr>
                </a:tc>
              </a:tr>
            </a:tbl>
          </a:graphicData>
        </a:graphic>
      </p:graphicFrame>
      <p:sp>
        <p:nvSpPr>
          <p:cNvPr id="4" name="TextBox 3"/>
          <p:cNvSpPr txBox="1"/>
          <p:nvPr/>
        </p:nvSpPr>
        <p:spPr>
          <a:xfrm>
            <a:off x="1097280" y="5303520"/>
            <a:ext cx="10561320" cy="822960"/>
          </a:xfrm>
          <a:prstGeom prst="rect">
            <a:avLst/>
          </a:prstGeom>
          <a:noFill/>
        </p:spPr>
        <p:txBody>
          <a:bodyPr wrap="square" lIns="0" rIns="0" tIns="0" bIns="0">
            <a:spAutoFit/>
          </a:bodyPr>
          <a:lstStyle/>
          <a:p>
            <a:pPr algn="l">
              <a:lnSpc>
                <a:spcPct val="130000"/>
              </a:lnSpc>
            </a:pPr>
            <a:r>
              <a:rPr sz="1350" b="0" i="0">
                <a:solidFill>
                  <a:srgbClr val="4A4A4E"/>
                </a:solidFill>
                <a:latin typeface="Roboto Light"/>
              </a:rPr>
              <a:t>Stores 77 and 88 show a clean, statistically significant uplift in both sales and customer numbers. Store 86 saw significantly more customers every month, but that didn't reliably convert into more revenue — worth a conversation with the Category Manager before generalising the result.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00005"/>
                </a:solidFill>
                <a:latin typeface="Roboto"/>
              </a:rPr>
              <a:t>Store 86: more customers, but not more revenue</a:t>
            </a:r>
          </a:p>
        </p:txBody>
      </p:sp>
      <p:pic>
        <p:nvPicPr>
          <p:cNvPr id="3" name="Picture 2" descr="trial_store86_spotlight.png"/>
          <p:cNvPicPr>
            <a:picLocks noChangeAspect="1"/>
          </p:cNvPicPr>
          <p:nvPr/>
        </p:nvPicPr>
        <p:blipFill>
          <a:blip r:embed="rId2"/>
          <a:stretch>
            <a:fillRect/>
          </a:stretch>
        </p:blipFill>
        <p:spPr>
          <a:xfrm>
            <a:off x="1097280" y="2177335"/>
            <a:ext cx="6766560" cy="2594769"/>
          </a:xfrm>
          <a:prstGeom prst="rect">
            <a:avLst/>
          </a:prstGeom>
        </p:spPr>
      </p:pic>
      <p:sp>
        <p:nvSpPr>
          <p:cNvPr id="4" name="TextBox 3"/>
          <p:cNvSpPr txBox="1"/>
          <p:nvPr/>
        </p:nvSpPr>
        <p:spPr>
          <a:xfrm>
            <a:off x="8183880" y="1828800"/>
            <a:ext cx="3474720" cy="1005840"/>
          </a:xfrm>
          <a:prstGeom prst="rect">
            <a:avLst/>
          </a:prstGeom>
          <a:noFill/>
        </p:spPr>
        <p:txBody>
          <a:bodyPr wrap="square" lIns="0" rIns="0" tIns="0" bIns="0">
            <a:spAutoFit/>
          </a:bodyPr>
          <a:lstStyle/>
          <a:p>
            <a:pPr algn="l">
              <a:lnSpc>
                <a:spcPct val="115000"/>
              </a:lnSpc>
            </a:pPr>
            <a:r>
              <a:rPr sz="4400" b="1" i="0">
                <a:solidFill>
                  <a:srgbClr val="8E72BF"/>
                </a:solidFill>
                <a:latin typeface="Roboto Light"/>
              </a:rPr>
              <a:t>?</a:t>
            </a:r>
          </a:p>
        </p:txBody>
      </p:sp>
      <p:sp>
        <p:nvSpPr>
          <p:cNvPr id="5" name="TextBox 4"/>
          <p:cNvSpPr txBox="1"/>
          <p:nvPr/>
        </p:nvSpPr>
        <p:spPr>
          <a:xfrm>
            <a:off x="8183880" y="2788920"/>
            <a:ext cx="3474720" cy="640080"/>
          </a:xfrm>
          <a:prstGeom prst="rect">
            <a:avLst/>
          </a:prstGeom>
          <a:noFill/>
        </p:spPr>
        <p:txBody>
          <a:bodyPr wrap="square" lIns="0" rIns="0" tIns="0" bIns="0">
            <a:spAutoFit/>
          </a:bodyPr>
          <a:lstStyle/>
          <a:p>
            <a:pPr algn="l">
              <a:lnSpc>
                <a:spcPct val="120000"/>
              </a:lnSpc>
            </a:pPr>
            <a:r>
              <a:rPr sz="1350" b="0" i="0">
                <a:solidFill>
                  <a:srgbClr val="4A4A4E"/>
                </a:solidFill>
                <a:latin typeface="Roboto Light"/>
              </a:rPr>
              <a:t>Was a different promotion or price</a:t>
            </a:r>
          </a:p>
          <a:p>
            <a:pPr algn="l">
              <a:lnSpc>
                <a:spcPct val="120000"/>
              </a:lnSpc>
            </a:pPr>
            <a:r>
              <a:rPr sz="1350" b="0" i="0">
                <a:solidFill>
                  <a:srgbClr val="4A4A4E"/>
                </a:solidFill>
                <a:latin typeface="Roboto Light"/>
              </a:rPr>
              <a:t>point running in store 86?</a:t>
            </a:r>
          </a:p>
        </p:txBody>
      </p:sp>
      <p:sp>
        <p:nvSpPr>
          <p:cNvPr id="6" name="TextBox 5"/>
          <p:cNvSpPr txBox="1"/>
          <p:nvPr/>
        </p:nvSpPr>
        <p:spPr>
          <a:xfrm>
            <a:off x="8183880" y="3611880"/>
            <a:ext cx="3474720" cy="2926080"/>
          </a:xfrm>
          <a:prstGeom prst="rect">
            <a:avLst/>
          </a:prstGeom>
          <a:noFill/>
        </p:spPr>
        <p:txBody>
          <a:bodyPr wrap="square" lIns="0" rIns="0" tIns="0" bIns="0">
            <a:spAutoFit/>
          </a:bodyPr>
          <a:lstStyle/>
          <a:p>
            <a:pPr algn="l">
              <a:lnSpc>
                <a:spcPct val="130000"/>
              </a:lnSpc>
            </a:pPr>
            <a:r>
              <a:rPr sz="1300" b="0" i="0">
                <a:solidFill>
                  <a:srgbClr val="000005"/>
                </a:solidFill>
                <a:latin typeface="Roboto Light"/>
              </a:rPr>
              <a:t>Customer visits rose significantly every single trial month — the layout is clearly pulling more people in. But sales didn't rise by nearly as much, which usually points to a lower average basket value. Before treating this as a weaker result, it's worth checking whether a discount or different offer ran alongside the layout change in this store.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00005"/>
                </a:solidFill>
                <a:latin typeface="Roboto"/>
              </a:rPr>
              <a:t>Recommendations &amp; next steps</a:t>
            </a:r>
          </a:p>
        </p:txBody>
      </p:sp>
      <p:sp>
        <p:nvSpPr>
          <p:cNvPr id="3" name="Rectangle 2"/>
          <p:cNvSpPr/>
          <p:nvPr/>
        </p:nvSpPr>
        <p:spPr>
          <a:xfrm>
            <a:off x="1097280" y="1554480"/>
            <a:ext cx="82296" cy="1024128"/>
          </a:xfrm>
          <a:prstGeom prst="rect">
            <a:avLst/>
          </a:prstGeom>
          <a:solidFill>
            <a:srgbClr val="EF6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48740" y="1815084"/>
            <a:ext cx="502920" cy="502920"/>
          </a:xfrm>
          <a:prstGeom prst="ellipse">
            <a:avLst/>
          </a:prstGeom>
          <a:solidFill>
            <a:srgbClr val="EF63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Roboto"/>
              </a:rPr>
              <a:t>1</a:t>
            </a:r>
          </a:p>
        </p:txBody>
      </p:sp>
      <p:sp>
        <p:nvSpPr>
          <p:cNvPr id="5" name="TextBox 4"/>
          <p:cNvSpPr txBox="1"/>
          <p:nvPr/>
        </p:nvSpPr>
        <p:spPr>
          <a:xfrm>
            <a:off x="2011680" y="1581912"/>
            <a:ext cx="9692640" cy="411480"/>
          </a:xfrm>
          <a:prstGeom prst="rect">
            <a:avLst/>
          </a:prstGeom>
          <a:noFill/>
        </p:spPr>
        <p:txBody>
          <a:bodyPr wrap="square" lIns="0" rIns="0" tIns="0" bIns="0">
            <a:spAutoFit/>
          </a:bodyPr>
          <a:lstStyle/>
          <a:p>
            <a:pPr algn="l">
              <a:lnSpc>
                <a:spcPct val="115000"/>
              </a:lnSpc>
            </a:pPr>
            <a:r>
              <a:rPr sz="1550" b="1" i="0">
                <a:solidFill>
                  <a:srgbClr val="000005"/>
                </a:solidFill>
                <a:latin typeface="Roboto Light"/>
              </a:rPr>
              <a:t>Target Mainstream Young Singles/Couples</a:t>
            </a:r>
          </a:p>
        </p:txBody>
      </p:sp>
      <p:sp>
        <p:nvSpPr>
          <p:cNvPr id="6" name="TextBox 5"/>
          <p:cNvSpPr txBox="1"/>
          <p:nvPr/>
        </p:nvSpPr>
        <p:spPr>
          <a:xfrm>
            <a:off x="2011680" y="2011680"/>
            <a:ext cx="9692640" cy="502920"/>
          </a:xfrm>
          <a:prstGeom prst="rect">
            <a:avLst/>
          </a:prstGeom>
          <a:noFill/>
        </p:spPr>
        <p:txBody>
          <a:bodyPr wrap="square" lIns="0" rIns="0" tIns="0" bIns="0">
            <a:spAutoFit/>
          </a:bodyPr>
          <a:lstStyle/>
          <a:p>
            <a:pPr algn="l">
              <a:lnSpc>
                <a:spcPct val="115000"/>
              </a:lnSpc>
            </a:pPr>
            <a:r>
              <a:rPr sz="1200" b="0" i="0">
                <a:solidFill>
                  <a:srgbClr val="4A4A4E"/>
                </a:solidFill>
                <a:latin typeface="Roboto Light"/>
              </a:rPr>
              <a:t>Our largest, highest-value customer base — lead category strategy with this segment front of mind.</a:t>
            </a:r>
          </a:p>
        </p:txBody>
      </p:sp>
      <p:sp>
        <p:nvSpPr>
          <p:cNvPr id="7" name="Rectangle 6"/>
          <p:cNvSpPr/>
          <p:nvPr/>
        </p:nvSpPr>
        <p:spPr>
          <a:xfrm>
            <a:off x="1097280" y="2688336"/>
            <a:ext cx="82296" cy="1024128"/>
          </a:xfrm>
          <a:prstGeom prst="rect">
            <a:avLst/>
          </a:prstGeom>
          <a:solidFill>
            <a:srgbClr val="44D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8740" y="2948940"/>
            <a:ext cx="502920" cy="502920"/>
          </a:xfrm>
          <a:prstGeom prst="ellipse">
            <a:avLst/>
          </a:prstGeom>
          <a:solidFill>
            <a:srgbClr val="44D6A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Roboto"/>
              </a:rPr>
              <a:t>2</a:t>
            </a:r>
          </a:p>
        </p:txBody>
      </p:sp>
      <p:sp>
        <p:nvSpPr>
          <p:cNvPr id="9" name="TextBox 8"/>
          <p:cNvSpPr txBox="1"/>
          <p:nvPr/>
        </p:nvSpPr>
        <p:spPr>
          <a:xfrm>
            <a:off x="2011680" y="2715768"/>
            <a:ext cx="9692640" cy="411480"/>
          </a:xfrm>
          <a:prstGeom prst="rect">
            <a:avLst/>
          </a:prstGeom>
          <a:noFill/>
        </p:spPr>
        <p:txBody>
          <a:bodyPr wrap="square" lIns="0" rIns="0" tIns="0" bIns="0">
            <a:spAutoFit/>
          </a:bodyPr>
          <a:lstStyle/>
          <a:p>
            <a:pPr algn="l">
              <a:lnSpc>
                <a:spcPct val="115000"/>
              </a:lnSpc>
            </a:pPr>
            <a:r>
              <a:rPr sz="1550" b="1" i="0">
                <a:solidFill>
                  <a:srgbClr val="000005"/>
                </a:solidFill>
                <a:latin typeface="Roboto Light"/>
              </a:rPr>
              <a:t>Prioritise Tyrrells, Doritos, Kettle, Twisties, Tostitos &amp; Pringles</a:t>
            </a:r>
          </a:p>
        </p:txBody>
      </p:sp>
      <p:sp>
        <p:nvSpPr>
          <p:cNvPr id="10" name="TextBox 9"/>
          <p:cNvSpPr txBox="1"/>
          <p:nvPr/>
        </p:nvSpPr>
        <p:spPr>
          <a:xfrm>
            <a:off x="2011680" y="3145536"/>
            <a:ext cx="9692640" cy="502920"/>
          </a:xfrm>
          <a:prstGeom prst="rect">
            <a:avLst/>
          </a:prstGeom>
          <a:noFill/>
        </p:spPr>
        <p:txBody>
          <a:bodyPr wrap="square" lIns="0" rIns="0" tIns="0" bIns="0">
            <a:spAutoFit/>
          </a:bodyPr>
          <a:lstStyle/>
          <a:p>
            <a:pPr algn="l">
              <a:lnSpc>
                <a:spcPct val="115000"/>
              </a:lnSpc>
            </a:pPr>
            <a:r>
              <a:rPr sz="1200" b="0" i="0">
                <a:solidFill>
                  <a:srgbClr val="4A4A4E"/>
                </a:solidFill>
                <a:latin typeface="Roboto Light"/>
              </a:rPr>
              <a:t>Shift range and promotional space toward the brands this segment already over-indexes on.</a:t>
            </a:r>
          </a:p>
        </p:txBody>
      </p:sp>
      <p:sp>
        <p:nvSpPr>
          <p:cNvPr id="11" name="Rectangle 10"/>
          <p:cNvSpPr/>
          <p:nvPr/>
        </p:nvSpPr>
        <p:spPr>
          <a:xfrm>
            <a:off x="1097280" y="3822192"/>
            <a:ext cx="82296" cy="1024128"/>
          </a:xfrm>
          <a:prstGeom prst="rect">
            <a:avLst/>
          </a:prstGeom>
          <a:solidFill>
            <a:srgbClr val="8E72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48740" y="4082796"/>
            <a:ext cx="502920" cy="502920"/>
          </a:xfrm>
          <a:prstGeom prst="ellipse">
            <a:avLst/>
          </a:prstGeom>
          <a:solidFill>
            <a:srgbClr val="8E72B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Roboto"/>
              </a:rPr>
              <a:t>3</a:t>
            </a:r>
          </a:p>
        </p:txBody>
      </p:sp>
      <p:sp>
        <p:nvSpPr>
          <p:cNvPr id="13" name="TextBox 12"/>
          <p:cNvSpPr txBox="1"/>
          <p:nvPr/>
        </p:nvSpPr>
        <p:spPr>
          <a:xfrm>
            <a:off x="2011680" y="3849624"/>
            <a:ext cx="9692640" cy="411480"/>
          </a:xfrm>
          <a:prstGeom prst="rect">
            <a:avLst/>
          </a:prstGeom>
          <a:noFill/>
        </p:spPr>
        <p:txBody>
          <a:bodyPr wrap="square" lIns="0" rIns="0" tIns="0" bIns="0">
            <a:spAutoFit/>
          </a:bodyPr>
          <a:lstStyle/>
          <a:p>
            <a:pPr algn="l">
              <a:lnSpc>
                <a:spcPct val="115000"/>
              </a:lnSpc>
            </a:pPr>
            <a:r>
              <a:rPr sz="1550" b="1" i="0">
                <a:solidFill>
                  <a:srgbClr val="000005"/>
                </a:solidFill>
                <a:latin typeface="Roboto Light"/>
              </a:rPr>
              <a:t>Roll out the new layout more broadly</a:t>
            </a:r>
          </a:p>
        </p:txBody>
      </p:sp>
      <p:sp>
        <p:nvSpPr>
          <p:cNvPr id="14" name="TextBox 13"/>
          <p:cNvSpPr txBox="1"/>
          <p:nvPr/>
        </p:nvSpPr>
        <p:spPr>
          <a:xfrm>
            <a:off x="2011680" y="4279392"/>
            <a:ext cx="9692640" cy="502920"/>
          </a:xfrm>
          <a:prstGeom prst="rect">
            <a:avLst/>
          </a:prstGeom>
          <a:noFill/>
        </p:spPr>
        <p:txBody>
          <a:bodyPr wrap="square" lIns="0" rIns="0" tIns="0" bIns="0">
            <a:spAutoFit/>
          </a:bodyPr>
          <a:lstStyle/>
          <a:p>
            <a:pPr algn="l">
              <a:lnSpc>
                <a:spcPct val="115000"/>
              </a:lnSpc>
            </a:pPr>
            <a:r>
              <a:rPr sz="1200" b="0" i="0">
                <a:solidFill>
                  <a:srgbClr val="4A4A4E"/>
                </a:solidFill>
                <a:latin typeface="Roboto Light"/>
              </a:rPr>
              <a:t>Stores 77 and 88 show a clean, significant uplift in sales and customers — the core hypothesis is well supported.</a:t>
            </a:r>
          </a:p>
        </p:txBody>
      </p:sp>
      <p:sp>
        <p:nvSpPr>
          <p:cNvPr id="15" name="Rectangle 14"/>
          <p:cNvSpPr/>
          <p:nvPr/>
        </p:nvSpPr>
        <p:spPr>
          <a:xfrm>
            <a:off x="1097280" y="4956048"/>
            <a:ext cx="82296" cy="1024128"/>
          </a:xfrm>
          <a:prstGeom prst="rect">
            <a:avLst/>
          </a:prstGeom>
          <a:solidFill>
            <a:srgbClr val="3F68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48740" y="5216652"/>
            <a:ext cx="502920" cy="502920"/>
          </a:xfrm>
          <a:prstGeom prst="ellipse">
            <a:avLst/>
          </a:prstGeom>
          <a:solidFill>
            <a:srgbClr val="3F68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Roboto"/>
              </a:rPr>
              <a:t>4</a:t>
            </a:r>
          </a:p>
        </p:txBody>
      </p:sp>
      <p:sp>
        <p:nvSpPr>
          <p:cNvPr id="17" name="TextBox 16"/>
          <p:cNvSpPr txBox="1"/>
          <p:nvPr/>
        </p:nvSpPr>
        <p:spPr>
          <a:xfrm>
            <a:off x="2011680" y="4983480"/>
            <a:ext cx="9692640" cy="411480"/>
          </a:xfrm>
          <a:prstGeom prst="rect">
            <a:avLst/>
          </a:prstGeom>
          <a:noFill/>
        </p:spPr>
        <p:txBody>
          <a:bodyPr wrap="square" lIns="0" rIns="0" tIns="0" bIns="0">
            <a:spAutoFit/>
          </a:bodyPr>
          <a:lstStyle/>
          <a:p>
            <a:pPr algn="l">
              <a:lnSpc>
                <a:spcPct val="115000"/>
              </a:lnSpc>
            </a:pPr>
            <a:r>
              <a:rPr sz="1550" b="1" i="0">
                <a:solidFill>
                  <a:srgbClr val="000005"/>
                </a:solidFill>
                <a:latin typeface="Roboto Light"/>
              </a:rPr>
              <a:t>Clarify store 86 with the Category Manager before rolling out further</a:t>
            </a:r>
          </a:p>
        </p:txBody>
      </p:sp>
      <p:sp>
        <p:nvSpPr>
          <p:cNvPr id="18" name="TextBox 17"/>
          <p:cNvSpPr txBox="1"/>
          <p:nvPr/>
        </p:nvSpPr>
        <p:spPr>
          <a:xfrm>
            <a:off x="2011680" y="5413248"/>
            <a:ext cx="9692640" cy="502920"/>
          </a:xfrm>
          <a:prstGeom prst="rect">
            <a:avLst/>
          </a:prstGeom>
          <a:noFill/>
        </p:spPr>
        <p:txBody>
          <a:bodyPr wrap="square" lIns="0" rIns="0" tIns="0" bIns="0">
            <a:spAutoFit/>
          </a:bodyPr>
          <a:lstStyle/>
          <a:p>
            <a:pPr algn="l">
              <a:lnSpc>
                <a:spcPct val="115000"/>
              </a:lnSpc>
            </a:pPr>
            <a:r>
              <a:rPr sz="1200" b="0" i="0">
                <a:solidFill>
                  <a:srgbClr val="4A4A4E"/>
                </a:solidFill>
                <a:latin typeface="Roboto Light"/>
              </a:rPr>
              <a:t>Confirm whether pricing/promo differences explain the customer-vs-sales gap, so the rollout plan reflects the true effect.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6328</TotalTime>
  <Words>372</Words>
  <Application>Microsoft Office PowerPoint</Application>
  <PresentationFormat>Widescreen</PresentationFormat>
  <Paragraphs>36</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 Light</vt:lpstr>
      <vt:lpstr>Calibri</vt:lpstr>
      <vt:lpstr>Roboto Medium</vt:lpstr>
      <vt:lpstr>Arial</vt:lpstr>
      <vt:lpstr>Roboto</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Sarah D'oliveiro</cp:lastModifiedBy>
  <cp:revision>464</cp:revision>
  <dcterms:created xsi:type="dcterms:W3CDTF">2018-02-07T23:23:24Z</dcterms:created>
  <dcterms:modified xsi:type="dcterms:W3CDTF">2020-06-11T00:39:24Z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